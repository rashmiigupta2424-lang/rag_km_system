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4fbc592-9c3e-c3e4-58ad-55fed6d3f633}">
          <p14:sldIdLst>
            <p14:sldId id="256"/>
          </p14:sldIdLst>
        </p14:section>
        <p14:section name="Why" id="{6a7e6717-152b-f242-ccf0-7bd4e92a4d4f}">
          <p14:sldIdLst>
            <p14:sldId id="257"/>
          </p14:sldIdLst>
        </p14:section>
        <p14:section name="Solution" id="{2e7f0724-8d3c-1c42-b9fb-db0070ff3c3d}">
          <p14:sldIdLst>
            <p14:sldId id="258"/>
          </p14:sldIdLst>
        </p14:section>
        <p14:section name="Design" id="{758bb2d5-3b03-ccd6-3211-1513a54cd438}">
          <p14:sldIdLst>
            <p14:sldId id="259"/>
            <p14:sldId id="260"/>
          </p14:sldIdLst>
        </p14:section>
        <p14:section name="Retrieval" id="{f6d34cc6-c56f-91dd-201d-66104ee34f12}">
          <p14:sldIdLst>
            <p14:sldId id="261"/>
          </p14:sldIdLst>
        </p14:section>
        <p14:section name="Orchestration" id="{6f94a557-8b65-2ce9-8181-0496e7ea7287}">
          <p14:sldIdLst>
            <p14:sldId id="262"/>
            <p14:sldId id="263"/>
          </p14:sldIdLst>
        </p14:section>
        <p14:section name="Experience" id="{2802cf62-d881-000d-47cd-3e9efd6a7f5e}">
          <p14:sldIdLst>
            <p14:sldId id="264"/>
            <p14:sldId id="265"/>
          </p14:sldIdLst>
        </p14:section>
        <p14:section name="Build" id="{1997a89f-ba8b-7e08-5f6c-cb5c683de021}">
          <p14:sldIdLst>
            <p14:sldId id="266"/>
          </p14:sldIdLst>
        </p14:section>
        <p14:section name="Results" id="{b8c9e00b-d298-e78d-3b81-5774e8c35f04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RAG system that goes beyond embed-search-prompt. It decides how to answer each question, checks its own work, and shows its reasoning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RAG is one fixed pass: embed, search, stuff the prompt. Four predictable failure modes motivated each layer of this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Level-3 means the pipeline is modular and agentic: it chooses a strategy per question, retrieves iteratively, and verifies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has one job. Orchestration (highlighted) is the Level-3 core: a LangGraph StateGraph with conditional edges instead of a hand-rolled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Ingestion turns raw files into two complementary indexes so retrieval can use both meaning and exact keywords.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 search catches meaning, BM25 catches exact terms. A cross-encoder then reads query and chunk together to fix ordering. Retrieve broad, rerank narrow.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right, then the three notes underneath: routing short-circuit, the retrieval loop, and the corrective hop after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live in config.py and .env. Raising thresholds buys accuracy at the cost of extra LLM calls and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React UI is built so an examiner can see why each decision was made. Showdown runs naive RAG and Level-3 on the same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Admins can upload and delete; viewers are read-only. Access tokens last 15 minutes, refresh tokens 7 days and can be rotated or revoked. Auth is scoped for a course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LLM provider sits behind llm_client.py, so swapping models touches one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benchmark runs the same questions through both pipelines. Fill evaluation/eval_dataset.json with 20 to 30 real Q/A pairs, run python -m evaluation.evaluate, and paste the resulting table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known limitations proactively; each has a clear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live demo: upload a PDF, ask a complex question in Live Pipeline, then run Showdown on the same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RAG-Based Knowledge Management System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Level-3 modular, agentic retrieval-augmented generation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4TH-YEAR CSE (AI) MAJOR PROJECT</a:t>
            </a:r>
            <a:endParaRPr lang="en-US" sz="1200" dirty="0"/>
          </a:p>
        </p:txBody>
      </p:sp>
      <p:sp>
        <p:nvSpPr>
          <p:cNvPr id="5" name="Graph edge"/>
          <p:cNvSpPr/>
          <p:nvPr/>
        </p:nvSpPr>
        <p:spPr>
          <a:xfrm flipV="1">
            <a:off x="6400800" y="914400"/>
            <a:ext cx="1737360" cy="1828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6" name="Graph edge"/>
          <p:cNvSpPr/>
          <p:nvPr/>
        </p:nvSpPr>
        <p:spPr>
          <a:xfrm>
            <a:off x="6400800" y="1097280"/>
            <a:ext cx="1097280" cy="10972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7" name="Graph edge"/>
          <p:cNvSpPr/>
          <p:nvPr/>
        </p:nvSpPr>
        <p:spPr>
          <a:xfrm flipV="1">
            <a:off x="7498080" y="914400"/>
            <a:ext cx="640080" cy="12801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8" name="Graph edge"/>
          <p:cNvSpPr/>
          <p:nvPr/>
        </p:nvSpPr>
        <p:spPr>
          <a:xfrm flipV="1">
            <a:off x="6126480" y="2194560"/>
            <a:ext cx="1371600" cy="6400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9" name="Graph edge"/>
          <p:cNvSpPr/>
          <p:nvPr/>
        </p:nvSpPr>
        <p:spPr>
          <a:xfrm>
            <a:off x="7498080" y="2194560"/>
            <a:ext cx="731520" cy="10972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0" name="Graph edge"/>
          <p:cNvSpPr/>
          <p:nvPr/>
        </p:nvSpPr>
        <p:spPr>
          <a:xfrm>
            <a:off x="6126480" y="2834640"/>
            <a:ext cx="822960" cy="12801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1" name="Graph edge"/>
          <p:cNvSpPr/>
          <p:nvPr/>
        </p:nvSpPr>
        <p:spPr>
          <a:xfrm flipV="1">
            <a:off x="6949440" y="3291840"/>
            <a:ext cx="1280160" cy="8229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2" name="Graph edge"/>
          <p:cNvSpPr/>
          <p:nvPr/>
        </p:nvSpPr>
        <p:spPr>
          <a:xfrm flipV="1">
            <a:off x="6126480" y="1097280"/>
            <a:ext cx="274320" cy="17373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3" name="Graph node"/>
          <p:cNvSpPr/>
          <p:nvPr/>
        </p:nvSpPr>
        <p:spPr>
          <a:xfrm>
            <a:off x="6195060" y="891540"/>
            <a:ext cx="411480" cy="41148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4" name="Graph node"/>
          <p:cNvSpPr/>
          <p:nvPr/>
        </p:nvSpPr>
        <p:spPr>
          <a:xfrm>
            <a:off x="7932420" y="708660"/>
            <a:ext cx="411480" cy="41148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5" name="Graph node"/>
          <p:cNvSpPr/>
          <p:nvPr/>
        </p:nvSpPr>
        <p:spPr>
          <a:xfrm>
            <a:off x="7178040" y="187452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Graph node"/>
          <p:cNvSpPr/>
          <p:nvPr/>
        </p:nvSpPr>
        <p:spPr>
          <a:xfrm>
            <a:off x="5920740" y="2628900"/>
            <a:ext cx="411480" cy="41148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7" name="Graph node"/>
          <p:cNvSpPr/>
          <p:nvPr/>
        </p:nvSpPr>
        <p:spPr>
          <a:xfrm>
            <a:off x="8023860" y="3086100"/>
            <a:ext cx="411480" cy="41148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8" name="Graph node"/>
          <p:cNvSpPr/>
          <p:nvPr/>
        </p:nvSpPr>
        <p:spPr>
          <a:xfrm>
            <a:off x="6743700" y="3909060"/>
            <a:ext cx="411480" cy="41148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naive RAG falls short</a:t>
            </a:r>
            <a:endParaRPr lang="en-US" sz="3600" dirty="0"/>
          </a:p>
        </p:txBody>
      </p:sp>
      <p:sp>
        <p:nvSpPr>
          <p:cNvPr id="4" name="Icon circle Keyword blind spots"/>
          <p:cNvSpPr/>
          <p:nvPr/>
        </p:nvSpPr>
        <p:spPr>
          <a:xfrm>
            <a:off x="457200" y="134416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Keyword blind spo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1497787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Keyword blind spots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6093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Vector search misses exact terms, codes and names.</a:t>
            </a:r>
            <a:endParaRPr lang="en-US" sz="1400" dirty="0"/>
          </a:p>
        </p:txBody>
      </p:sp>
      <p:sp>
        <p:nvSpPr>
          <p:cNvPr id="8" name="Icon circle Noisy ordering"/>
          <p:cNvSpPr/>
          <p:nvPr/>
        </p:nvSpPr>
        <p:spPr>
          <a:xfrm>
            <a:off x="457200" y="21945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Noisy order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" y="234817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Noisy ordering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4597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Cheap similarity ranking puts weaker chunks first.</a:t>
            </a:r>
            <a:endParaRPr lang="en-US" sz="1400" dirty="0"/>
          </a:p>
        </p:txBody>
      </p:sp>
      <p:sp>
        <p:nvSpPr>
          <p:cNvPr id="12" name="Icon circle Single-hop only"/>
          <p:cNvSpPr/>
          <p:nvPr/>
        </p:nvSpPr>
        <p:spPr>
          <a:xfrm>
            <a:off x="457200" y="304495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Single-hop onl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3198571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9809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Single-hop only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310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Multi-part questions need evidence from several places.</a:t>
            </a:r>
            <a:endParaRPr lang="en-US" sz="1400" dirty="0"/>
          </a:p>
        </p:txBody>
      </p:sp>
      <p:sp>
        <p:nvSpPr>
          <p:cNvPr id="16" name="Icon circle Unchecked answers"/>
          <p:cNvSpPr/>
          <p:nvPr/>
        </p:nvSpPr>
        <p:spPr>
          <a:xfrm>
            <a:off x="457200" y="389534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Unchecked answe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" y="4048963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8313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Unchecked answers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Nothing stops unsupported claims reaching the user.</a:t>
            </a:r>
            <a:endParaRPr lang="en-US" sz="1400" dirty="0"/>
          </a:p>
        </p:txBody>
      </p:sp>
      <p:sp>
        <p:nvSpPr>
          <p:cNvPr id="20" name="Naive RAG panel"/>
          <p:cNvSpPr/>
          <p:nvPr/>
        </p:nvSpPr>
        <p:spPr>
          <a:xfrm>
            <a:off x="5577840" y="128016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85216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NAIVE RAG</a:t>
            </a:r>
            <a:endParaRPr lang="en-US" sz="1200" dirty="0"/>
          </a:p>
        </p:txBody>
      </p:sp>
      <p:sp>
        <p:nvSpPr>
          <p:cNvPr id="22" name="Naive step Embed"/>
          <p:cNvSpPr/>
          <p:nvPr/>
        </p:nvSpPr>
        <p:spPr>
          <a:xfrm>
            <a:off x="5852160" y="196596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85216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Embed</a:t>
            </a:r>
            <a:endParaRPr lang="en-US" sz="1600" dirty="0"/>
          </a:p>
        </p:txBody>
      </p:sp>
      <p:sp>
        <p:nvSpPr>
          <p:cNvPr id="24" name="Naive step Search"/>
          <p:cNvSpPr/>
          <p:nvPr/>
        </p:nvSpPr>
        <p:spPr>
          <a:xfrm>
            <a:off x="5852160" y="260604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85216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Search</a:t>
            </a:r>
            <a:endParaRPr lang="en-US" sz="1600" dirty="0"/>
          </a:p>
        </p:txBody>
      </p:sp>
      <p:sp>
        <p:nvSpPr>
          <p:cNvPr id="26" name="Naive step Stuff prompt"/>
          <p:cNvSpPr/>
          <p:nvPr/>
        </p:nvSpPr>
        <p:spPr>
          <a:xfrm>
            <a:off x="5852160" y="324612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85216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Stuff prompt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585216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One pass. No second chances.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Level-3</a:t>
            </a:r>
            <a:endParaRPr lang="en-US" sz="3600" dirty="0"/>
          </a:p>
        </p:txBody>
      </p:sp>
      <p:sp>
        <p:nvSpPr>
          <p:cNvPr id="4" name="Capability card Query routing"/>
          <p:cNvSpPr/>
          <p:nvPr/>
        </p:nvSpPr>
        <p:spPr>
          <a:xfrm>
            <a:off x="45720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Query routing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Query rout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9105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Query routing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Classifies each question, then picks a strategy.</a:t>
            </a:r>
            <a:endParaRPr lang="en-US" sz="1400" dirty="0"/>
          </a:p>
        </p:txBody>
      </p:sp>
      <p:sp>
        <p:nvSpPr>
          <p:cNvPr id="9" name="Capability card Hybrid retrieval"/>
          <p:cNvSpPr/>
          <p:nvPr/>
        </p:nvSpPr>
        <p:spPr>
          <a:xfrm>
            <a:off x="329184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Hybrid retrieval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Hybrid retriev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910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747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Hybrid retrieval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Dense vectors plus BM25, fused by weight.</a:t>
            </a:r>
            <a:endParaRPr lang="en-US" sz="1400" dirty="0"/>
          </a:p>
        </p:txBody>
      </p:sp>
      <p:sp>
        <p:nvSpPr>
          <p:cNvPr id="14" name="Capability card Cross-encoder rerank"/>
          <p:cNvSpPr/>
          <p:nvPr/>
        </p:nvSpPr>
        <p:spPr>
          <a:xfrm>
            <a:off x="612648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Cross-encoder rerank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Cross-encoder reran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9105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093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Cross-encoder rerank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30936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Re-scores top chunks for precision.</a:t>
            </a:r>
            <a:endParaRPr lang="en-US" sz="1400" dirty="0"/>
          </a:p>
        </p:txBody>
      </p:sp>
      <p:sp>
        <p:nvSpPr>
          <p:cNvPr id="19" name="Capability card Multi-hop retrieval"/>
          <p:cNvSpPr/>
          <p:nvPr/>
        </p:nvSpPr>
        <p:spPr>
          <a:xfrm>
            <a:off x="45720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 Multi-hop retrieval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3" descr="Multi-hop retriev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37413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Multi-hop retrieval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4069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Follow-up queries when context falls short.</a:t>
            </a:r>
            <a:endParaRPr lang="en-US" sz="1400" dirty="0"/>
          </a:p>
        </p:txBody>
      </p:sp>
      <p:sp>
        <p:nvSpPr>
          <p:cNvPr id="24" name="Capability card Groundedness check"/>
          <p:cNvSpPr/>
          <p:nvPr/>
        </p:nvSpPr>
        <p:spPr>
          <a:xfrm>
            <a:off x="329184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circle Groundedness check"/>
          <p:cNvSpPr/>
          <p:nvPr/>
        </p:nvSpPr>
        <p:spPr>
          <a:xfrm>
            <a:off x="3474720" y="3246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4" descr="Groundedness 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374136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747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Groundedness check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474720" y="4069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 LLM judge flags unsupported claims.</a:t>
            </a:r>
            <a:endParaRPr lang="en-US" sz="1400" dirty="0"/>
          </a:p>
        </p:txBody>
      </p:sp>
      <p:sp>
        <p:nvSpPr>
          <p:cNvPr id="29" name="Capability card Cited answers"/>
          <p:cNvSpPr/>
          <p:nvPr/>
        </p:nvSpPr>
        <p:spPr>
          <a:xfrm>
            <a:off x="612648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 circle Cited answers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Image 5" descr="Cited answer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374136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30936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Cited answers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309360" y="4069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Inline [n] markers trace to source chunks.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layered architecture</a:t>
            </a:r>
            <a:endParaRPr lang="en-US" sz="3600" dirty="0"/>
          </a:p>
        </p:txBody>
      </p:sp>
      <p:sp>
        <p:nvSpPr>
          <p:cNvPr id="4" name="Layer label Application"/>
          <p:cNvSpPr/>
          <p:nvPr/>
        </p:nvSpPr>
        <p:spPr>
          <a:xfrm>
            <a:off x="457200" y="1280160"/>
            <a:ext cx="2194560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6" name="Layer detail Application"/>
          <p:cNvSpPr/>
          <p:nvPr/>
        </p:nvSpPr>
        <p:spPr>
          <a:xfrm>
            <a:off x="2788920" y="1280160"/>
            <a:ext cx="58978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971800" y="1280160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 UI (Vite + Tailwind) · Streamlit fallback</a:t>
            </a:r>
            <a:endParaRPr lang="en-US" sz="1400" dirty="0"/>
          </a:p>
        </p:txBody>
      </p:sp>
      <p:sp>
        <p:nvSpPr>
          <p:cNvPr id="8" name="Layer label API and Auth"/>
          <p:cNvSpPr/>
          <p:nvPr/>
        </p:nvSpPr>
        <p:spPr>
          <a:xfrm>
            <a:off x="457200" y="1856232"/>
            <a:ext cx="2194560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85623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API and Auth</a:t>
            </a:r>
            <a:endParaRPr lang="en-US" sz="1400" dirty="0"/>
          </a:p>
        </p:txBody>
      </p:sp>
      <p:sp>
        <p:nvSpPr>
          <p:cNvPr id="10" name="Layer detail API and Auth"/>
          <p:cNvSpPr/>
          <p:nvPr/>
        </p:nvSpPr>
        <p:spPr>
          <a:xfrm>
            <a:off x="2788920" y="1856232"/>
            <a:ext cx="58978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71800" y="1856232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REST · RBAC with access and refresh tokens</a:t>
            </a:r>
            <a:endParaRPr lang="en-US" sz="1400" dirty="0"/>
          </a:p>
        </p:txBody>
      </p:sp>
      <p:sp>
        <p:nvSpPr>
          <p:cNvPr id="12" name="Layer label Orchestration"/>
          <p:cNvSpPr/>
          <p:nvPr/>
        </p:nvSpPr>
        <p:spPr>
          <a:xfrm>
            <a:off x="457200" y="2432304"/>
            <a:ext cx="2194560" cy="493776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43230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Orchestration</a:t>
            </a:r>
            <a:endParaRPr lang="en-US" sz="1400" dirty="0"/>
          </a:p>
        </p:txBody>
      </p:sp>
      <p:sp>
        <p:nvSpPr>
          <p:cNvPr id="14" name="Layer detail Orchestration"/>
          <p:cNvSpPr/>
          <p:nvPr/>
        </p:nvSpPr>
        <p:spPr>
          <a:xfrm>
            <a:off x="2788920" y="2432304"/>
            <a:ext cx="58978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71800" y="2432304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LangGraph: router, retrieval loop, verify, correct</a:t>
            </a:r>
            <a:endParaRPr lang="en-US" sz="1400" dirty="0"/>
          </a:p>
        </p:txBody>
      </p:sp>
      <p:sp>
        <p:nvSpPr>
          <p:cNvPr id="16" name="Layer label Retrieval"/>
          <p:cNvSpPr/>
          <p:nvPr/>
        </p:nvSpPr>
        <p:spPr>
          <a:xfrm>
            <a:off x="457200" y="3008376"/>
            <a:ext cx="2194560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008376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Retrieval</a:t>
            </a:r>
            <a:endParaRPr lang="en-US" sz="1400" dirty="0"/>
          </a:p>
        </p:txBody>
      </p:sp>
      <p:sp>
        <p:nvSpPr>
          <p:cNvPr id="18" name="Layer detail Retrieval"/>
          <p:cNvSpPr/>
          <p:nvPr/>
        </p:nvSpPr>
        <p:spPr>
          <a:xfrm>
            <a:off x="2788920" y="3008376"/>
            <a:ext cx="58978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971800" y="3008376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Query rewriter · hybrid retriever · cross-encoder</a:t>
            </a:r>
            <a:endParaRPr lang="en-US" sz="1400" dirty="0"/>
          </a:p>
        </p:txBody>
      </p:sp>
      <p:sp>
        <p:nvSpPr>
          <p:cNvPr id="20" name="Layer label Generation"/>
          <p:cNvSpPr/>
          <p:nvPr/>
        </p:nvSpPr>
        <p:spPr>
          <a:xfrm>
            <a:off x="457200" y="3584448"/>
            <a:ext cx="2194560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58444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Generation</a:t>
            </a:r>
            <a:endParaRPr lang="en-US" sz="1400" dirty="0"/>
          </a:p>
        </p:txBody>
      </p:sp>
      <p:sp>
        <p:nvSpPr>
          <p:cNvPr id="22" name="Layer detail Generation"/>
          <p:cNvSpPr/>
          <p:nvPr/>
        </p:nvSpPr>
        <p:spPr>
          <a:xfrm>
            <a:off x="2788920" y="3584448"/>
            <a:ext cx="58978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71800" y="3584448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Gemini client · cited answers · quiz · Piper TTS</a:t>
            </a:r>
            <a:endParaRPr lang="en-US" sz="1400" dirty="0"/>
          </a:p>
        </p:txBody>
      </p:sp>
      <p:sp>
        <p:nvSpPr>
          <p:cNvPr id="24" name="Layer label Indexing + Ingestion"/>
          <p:cNvSpPr/>
          <p:nvPr/>
        </p:nvSpPr>
        <p:spPr>
          <a:xfrm>
            <a:off x="457200" y="4160520"/>
            <a:ext cx="2194560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16052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Indexing + Ingestion</a:t>
            </a:r>
            <a:endParaRPr lang="en-US" sz="1400" dirty="0"/>
          </a:p>
        </p:txBody>
      </p:sp>
      <p:sp>
        <p:nvSpPr>
          <p:cNvPr id="26" name="Layer detail Indexing + Ingestion"/>
          <p:cNvSpPr/>
          <p:nvPr/>
        </p:nvSpPr>
        <p:spPr>
          <a:xfrm>
            <a:off x="2788920" y="4160520"/>
            <a:ext cx="58978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971800" y="4160520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Loaders, chunker, ChromaDB vectors, BM25 index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documents to indexes</a:t>
            </a:r>
            <a:endParaRPr lang="en-US" sz="3600" dirty="0"/>
          </a:p>
        </p:txBody>
      </p:sp>
      <p:sp>
        <p:nvSpPr>
          <p:cNvPr id="4" name="Step card Load"/>
          <p:cNvSpPr/>
          <p:nvPr/>
        </p:nvSpPr>
        <p:spPr>
          <a:xfrm>
            <a:off x="457200" y="1280160"/>
            <a:ext cx="18288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Load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Loa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9105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30428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PDF, DOCX, TXT and MD to raw text.</a:t>
            </a:r>
            <a:endParaRPr lang="en-US" sz="1400" dirty="0"/>
          </a:p>
        </p:txBody>
      </p:sp>
      <p:sp>
        <p:nvSpPr>
          <p:cNvPr id="9" name="Step arrow"/>
          <p:cNvSpPr/>
          <p:nvPr/>
        </p:nvSpPr>
        <p:spPr>
          <a:xfrm>
            <a:off x="2304288" y="2194560"/>
            <a:ext cx="23774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tep card Chunk"/>
          <p:cNvSpPr/>
          <p:nvPr/>
        </p:nvSpPr>
        <p:spPr>
          <a:xfrm>
            <a:off x="2560320" y="1280160"/>
            <a:ext cx="18288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circle Chunk"/>
          <p:cNvSpPr/>
          <p:nvPr/>
        </p:nvSpPr>
        <p:spPr>
          <a:xfrm>
            <a:off x="274320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mage 1" descr="Chun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159105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4320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Chunk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743200" y="230428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Recursive split: paragraph, sentence, word.</a:t>
            </a:r>
            <a:endParaRPr lang="en-US" sz="1400" dirty="0"/>
          </a:p>
        </p:txBody>
      </p:sp>
      <p:sp>
        <p:nvSpPr>
          <p:cNvPr id="15" name="Step arrow"/>
          <p:cNvSpPr/>
          <p:nvPr/>
        </p:nvSpPr>
        <p:spPr>
          <a:xfrm>
            <a:off x="4407408" y="2194560"/>
            <a:ext cx="23774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tep card Embed"/>
          <p:cNvSpPr/>
          <p:nvPr/>
        </p:nvSpPr>
        <p:spPr>
          <a:xfrm>
            <a:off x="4663440" y="1280160"/>
            <a:ext cx="18288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circle Embed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mage 2" descr="Emb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159105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4632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Embed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846320" y="230428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MiniLM sentence-transformer vectors.</a:t>
            </a:r>
            <a:endParaRPr lang="en-US" sz="1400" dirty="0"/>
          </a:p>
        </p:txBody>
      </p:sp>
      <p:sp>
        <p:nvSpPr>
          <p:cNvPr id="21" name="Step arrow"/>
          <p:cNvSpPr/>
          <p:nvPr/>
        </p:nvSpPr>
        <p:spPr>
          <a:xfrm>
            <a:off x="6510528" y="2194560"/>
            <a:ext cx="23774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tep card Index"/>
          <p:cNvSpPr/>
          <p:nvPr/>
        </p:nvSpPr>
        <p:spPr>
          <a:xfrm>
            <a:off x="6766560" y="1280160"/>
            <a:ext cx="18288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 circle Index"/>
          <p:cNvSpPr/>
          <p:nvPr/>
        </p:nvSpPr>
        <p:spPr>
          <a:xfrm>
            <a:off x="694944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mage 3" descr="Index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1591056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4944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Index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230428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ChromaDB vectors plus a BM25 index.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3429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48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characters per chunk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3291840" y="3429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4800" dirty="0"/>
          </a:p>
        </p:txBody>
      </p:sp>
      <p:sp>
        <p:nvSpPr>
          <p:cNvPr id="30" name="Text 23"/>
          <p:cNvSpPr txBox="1"/>
          <p:nvPr/>
        </p:nvSpPr>
        <p:spPr>
          <a:xfrm>
            <a:off x="329184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characters of overlap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6126480" y="3429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</a:t>
            </a:r>
            <a:endParaRPr lang="en-US" sz="4800" dirty="0"/>
          </a:p>
        </p:txBody>
      </p:sp>
      <p:sp>
        <p:nvSpPr>
          <p:cNvPr id="32" name="Text 25"/>
          <p:cNvSpPr txBox="1"/>
          <p:nvPr/>
        </p:nvSpPr>
        <p:spPr>
          <a:xfrm>
            <a:off x="612648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embedding dimensions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Hybrid search, then rerank</a:t>
            </a:r>
            <a:endParaRPr lang="en-US" sz="3600" dirty="0"/>
          </a:p>
        </p:txBody>
      </p:sp>
      <p:sp>
        <p:nvSpPr>
          <p:cNvPr id="4" name="Fusion panel"/>
          <p:cNvSpPr/>
          <p:nvPr/>
        </p:nvSpPr>
        <p:spPr>
          <a:xfrm>
            <a:off x="457200" y="1280160"/>
            <a:ext cx="3840480" cy="338328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FUSION SCORE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· vector + (1 − α) · BM25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α = 0.5 by default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346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Dense: finds meaning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BM25: finds exact terms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Chunks hit by both get one combined score</a:t>
            </a:r>
            <a:endParaRPr lang="en-US" sz="1400" dirty="0"/>
          </a:p>
        </p:txBody>
      </p:sp>
      <p:sp>
        <p:nvSpPr>
          <p:cNvPr id="9" name="Funnel bar 1"/>
          <p:cNvSpPr/>
          <p:nvPr/>
        </p:nvSpPr>
        <p:spPr>
          <a:xfrm>
            <a:off x="4572000" y="1463040"/>
            <a:ext cx="41148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4630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 vector + 10 BM25 candidates</a:t>
            </a:r>
            <a:endParaRPr lang="en-US" sz="1400" dirty="0"/>
          </a:p>
        </p:txBody>
      </p:sp>
      <p:sp>
        <p:nvSpPr>
          <p:cNvPr id="11" name="Funnel bar 2"/>
          <p:cNvSpPr/>
          <p:nvPr/>
        </p:nvSpPr>
        <p:spPr>
          <a:xfrm>
            <a:off x="4983480" y="2514600"/>
            <a:ext cx="329184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2514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Fused ranking: top 10</a:t>
            </a:r>
            <a:endParaRPr lang="en-US" sz="1400" dirty="0"/>
          </a:p>
        </p:txBody>
      </p:sp>
      <p:sp>
        <p:nvSpPr>
          <p:cNvPr id="13" name="Funnel bar 3"/>
          <p:cNvSpPr/>
          <p:nvPr/>
        </p:nvSpPr>
        <p:spPr>
          <a:xfrm>
            <a:off x="5394960" y="356616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94960" y="3566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Cross-encoder: top 5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Retrieve broad, rerank narrow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agentic pipeline</a:t>
            </a:r>
            <a:endParaRPr lang="en-US" sz="3600" dirty="0"/>
          </a:p>
        </p:txBody>
      </p:sp>
      <p:sp>
        <p:nvSpPr>
          <p:cNvPr id="4" name="Flow node Router"/>
          <p:cNvSpPr/>
          <p:nvPr/>
        </p:nvSpPr>
        <p:spPr>
          <a:xfrm>
            <a:off x="457200" y="1371600"/>
            <a:ext cx="137160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Router</a:t>
            </a:r>
            <a:endParaRPr lang="en-US" sz="1400" dirty="0"/>
          </a:p>
        </p:txBody>
      </p:sp>
      <p:sp>
        <p:nvSpPr>
          <p:cNvPr id="6" name="Flow arrow"/>
          <p:cNvSpPr/>
          <p:nvPr/>
        </p:nvSpPr>
        <p:spPr>
          <a:xfrm>
            <a:off x="1828800" y="1805940"/>
            <a:ext cx="3429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Flow node Rewrite"/>
          <p:cNvSpPr/>
          <p:nvPr/>
        </p:nvSpPr>
        <p:spPr>
          <a:xfrm>
            <a:off x="2171700" y="1371600"/>
            <a:ext cx="137160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17420" y="13716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Rewrite</a:t>
            </a:r>
            <a:endParaRPr lang="en-US" sz="1400" dirty="0"/>
          </a:p>
        </p:txBody>
      </p:sp>
      <p:sp>
        <p:nvSpPr>
          <p:cNvPr id="9" name="Flow arrow"/>
          <p:cNvSpPr/>
          <p:nvPr/>
        </p:nvSpPr>
        <p:spPr>
          <a:xfrm>
            <a:off x="3543300" y="1805940"/>
            <a:ext cx="3429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Flow node Retrieve + rerank"/>
          <p:cNvSpPr/>
          <p:nvPr/>
        </p:nvSpPr>
        <p:spPr>
          <a:xfrm>
            <a:off x="3886200" y="1371600"/>
            <a:ext cx="13716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13716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Retrieve + rerank</a:t>
            </a:r>
            <a:endParaRPr lang="en-US" sz="1400" dirty="0"/>
          </a:p>
        </p:txBody>
      </p:sp>
      <p:sp>
        <p:nvSpPr>
          <p:cNvPr id="12" name="Flow arrow"/>
          <p:cNvSpPr/>
          <p:nvPr/>
        </p:nvSpPr>
        <p:spPr>
          <a:xfrm>
            <a:off x="5257800" y="1805940"/>
            <a:ext cx="3429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Flow node Generate"/>
          <p:cNvSpPr/>
          <p:nvPr/>
        </p:nvSpPr>
        <p:spPr>
          <a:xfrm>
            <a:off x="5600700" y="1371600"/>
            <a:ext cx="137160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46420" y="13716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Generate</a:t>
            </a:r>
            <a:endParaRPr lang="en-US" sz="1400" dirty="0"/>
          </a:p>
        </p:txBody>
      </p:sp>
      <p:sp>
        <p:nvSpPr>
          <p:cNvPr id="15" name="Flow arrow"/>
          <p:cNvSpPr/>
          <p:nvPr/>
        </p:nvSpPr>
        <p:spPr>
          <a:xfrm>
            <a:off x="6972300" y="1805940"/>
            <a:ext cx="3429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Flow node Verify"/>
          <p:cNvSpPr/>
          <p:nvPr/>
        </p:nvSpPr>
        <p:spPr>
          <a:xfrm>
            <a:off x="7315200" y="1371600"/>
            <a:ext cx="13716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60920" y="13716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Verify</a:t>
            </a:r>
            <a:endParaRPr lang="en-US" sz="1400" dirty="0"/>
          </a:p>
        </p:txBody>
      </p:sp>
      <p:sp>
        <p:nvSpPr>
          <p:cNvPr id="18" name="Note card Router"/>
          <p:cNvSpPr/>
          <p:nvPr/>
        </p:nvSpPr>
        <p:spPr>
          <a:xfrm>
            <a:off x="457200" y="260604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circle Router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0" descr="Rout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916936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23444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Router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Out-of-scope questions get a short refusal. Simple ones use 1 hop, complex ones up to 3.</a:t>
            </a:r>
            <a:endParaRPr lang="en-US" sz="1400" dirty="0"/>
          </a:p>
        </p:txBody>
      </p:sp>
      <p:sp>
        <p:nvSpPr>
          <p:cNvPr id="23" name="Note card Retrieval loop"/>
          <p:cNvSpPr/>
          <p:nvPr/>
        </p:nvSpPr>
        <p:spPr>
          <a:xfrm>
            <a:off x="3291840" y="260604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circle Retrieval loop"/>
          <p:cNvSpPr/>
          <p:nvPr/>
        </p:nvSpPr>
        <p:spPr>
          <a:xfrm>
            <a:off x="3474720" y="27889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1" descr="Retrieval loo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916936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06908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Retrieval loop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347472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If the top rerank score is under 0.35, the agent writes a follow-up query and retrieves again.</a:t>
            </a:r>
            <a:endParaRPr lang="en-US" sz="1400" dirty="0"/>
          </a:p>
        </p:txBody>
      </p:sp>
      <p:sp>
        <p:nvSpPr>
          <p:cNvPr id="28" name="Note card Corrective hop"/>
          <p:cNvSpPr/>
          <p:nvPr/>
        </p:nvSpPr>
        <p:spPr>
          <a:xfrm>
            <a:off x="6126480" y="260604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circle Corrective hop"/>
          <p:cNvSpPr/>
          <p:nvPr/>
        </p:nvSpPr>
        <p:spPr>
          <a:xfrm>
            <a:off x="6309360" y="27889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2" descr="Corrective ho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916936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90372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Corrective hop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630936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If groundedness is under 0.7, one corrective retrieval runs and the answer is regenerated.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knobs tune the tradeoff</a:t>
            </a:r>
            <a:endParaRPr lang="en-US" sz="3600" dirty="0"/>
          </a:p>
        </p:txBody>
      </p:sp>
      <p:sp>
        <p:nvSpPr>
          <p:cNvPr id="4" name="Knob card MAX_HOPS"/>
          <p:cNvSpPr/>
          <p:nvPr/>
        </p:nvSpPr>
        <p:spPr>
          <a:xfrm>
            <a:off x="457200" y="1280160"/>
            <a:ext cx="256032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MAX_HOPS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88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Retrieval hops for complex queries. Simple queries use 1.</a:t>
            </a:r>
            <a:endParaRPr lang="en-US" sz="1400" dirty="0"/>
          </a:p>
        </p:txBody>
      </p:sp>
      <p:sp>
        <p:nvSpPr>
          <p:cNvPr id="8" name="Knob card MIN_CONTEXT_SCORE"/>
          <p:cNvSpPr/>
          <p:nvPr/>
        </p:nvSpPr>
        <p:spPr>
          <a:xfrm>
            <a:off x="3291840" y="1280160"/>
            <a:ext cx="256032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MIN_CONTEXT_SCORE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788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Top rerank score needed to stop retrieving.</a:t>
            </a:r>
            <a:endParaRPr lang="en-US" sz="1400" dirty="0"/>
          </a:p>
        </p:txBody>
      </p:sp>
      <p:sp>
        <p:nvSpPr>
          <p:cNvPr id="12" name="Knob card GROUNDEDNESS"/>
          <p:cNvSpPr/>
          <p:nvPr/>
        </p:nvSpPr>
        <p:spPr>
          <a:xfrm>
            <a:off x="6126480" y="1280160"/>
            <a:ext cx="256032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GROUNDEDNESS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788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Judge score needed to skip the corrective hop.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Stricter thresholds raise accuracy and add latency.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More than a Q&amp;A box</a:t>
            </a:r>
            <a:endParaRPr lang="en-US" sz="3600" dirty="0"/>
          </a:p>
        </p:txBody>
      </p:sp>
      <p:sp>
        <p:nvSpPr>
          <p:cNvPr id="4" name="Feature card Live Pipeline"/>
          <p:cNvSpPr/>
          <p:nvPr/>
        </p:nvSpPr>
        <p:spPr>
          <a:xfrm>
            <a:off x="45720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Live Pipeline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mage 0" descr="Live Pipeli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9105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Pipeline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Animated trace of every stage, streamed as it runs.</a:t>
            </a:r>
            <a:endParaRPr lang="en-US" sz="1400" dirty="0"/>
          </a:p>
        </p:txBody>
      </p:sp>
      <p:sp>
        <p:nvSpPr>
          <p:cNvPr id="9" name="Feature card Showdown"/>
          <p:cNvSpPr/>
          <p:nvPr/>
        </p:nvSpPr>
        <p:spPr>
          <a:xfrm>
            <a:off x="329184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Showdown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1" descr="Showdow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910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747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Showdown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Naive RAG vs Level-3, side by side.</a:t>
            </a:r>
            <a:endParaRPr lang="en-US" sz="1400" dirty="0"/>
          </a:p>
        </p:txBody>
      </p:sp>
      <p:sp>
        <p:nvSpPr>
          <p:cNvPr id="14" name="Feature card Quiz Me"/>
          <p:cNvSpPr/>
          <p:nvPr/>
        </p:nvSpPr>
        <p:spPr>
          <a:xfrm>
            <a:off x="612648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Quiz Me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Quiz M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9105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093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Quiz Me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30936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Multiple-choice questions generated from your chunks.</a:t>
            </a:r>
            <a:endParaRPr lang="en-US" sz="1400" dirty="0"/>
          </a:p>
        </p:txBody>
      </p:sp>
      <p:sp>
        <p:nvSpPr>
          <p:cNvPr id="19" name="Feature card Knowledge Graph"/>
          <p:cNvSpPr/>
          <p:nvPr/>
        </p:nvSpPr>
        <p:spPr>
          <a:xfrm>
            <a:off x="45720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 Knowledge Graph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3" descr="Knowledge Grap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37413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Knowledge Graph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4069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Documents and chunks linked by similarity.</a:t>
            </a:r>
            <a:endParaRPr lang="en-US" sz="1400" dirty="0"/>
          </a:p>
        </p:txBody>
      </p:sp>
      <p:sp>
        <p:nvSpPr>
          <p:cNvPr id="24" name="Feature card Guided Demo"/>
          <p:cNvSpPr/>
          <p:nvPr/>
        </p:nvSpPr>
        <p:spPr>
          <a:xfrm>
            <a:off x="329184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circle Guided Demo"/>
          <p:cNvSpPr/>
          <p:nvPr/>
        </p:nvSpPr>
        <p:spPr>
          <a:xfrm>
            <a:off x="3474720" y="32461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Image 4" descr="Guided Demo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374136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747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Guided Demo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474720" y="4069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Step through one query with narration.</a:t>
            </a:r>
            <a:endParaRPr lang="en-US" sz="1400" dirty="0"/>
          </a:p>
        </p:txBody>
      </p:sp>
      <p:sp>
        <p:nvSpPr>
          <p:cNvPr id="29" name="Feature card Voice answers"/>
          <p:cNvSpPr/>
          <p:nvPr/>
        </p:nvSpPr>
        <p:spPr>
          <a:xfrm>
            <a:off x="612648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 circle Voice answers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Image 5" descr="Voice answer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374136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30936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Voice answers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309360" y="4069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On-device Piper text-to-speech.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Role-based access and API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in, receive token pair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/api/upload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a document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/api/documents/{id}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document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/api/query/stream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pipeline events (NDJSON)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/api/query/compare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vs Level-3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/api/quiz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quiz questions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similarity 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Icon circle Auth"/>
          <p:cNvSpPr/>
          <p:nvPr/>
        </p:nvSpPr>
        <p:spPr>
          <a:xfrm>
            <a:off x="457200" y="41605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Aut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4288536"/>
            <a:ext cx="201168" cy="20116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5156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HMAC-signed tokens: 15-minute access, 7-day rotatable refresh.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 stack</a:t>
            </a:r>
            <a:endParaRPr lang="en-US" sz="3600" dirty="0"/>
          </a:p>
        </p:txBody>
      </p:sp>
      <p:sp>
        <p:nvSpPr>
          <p:cNvPr id="4" name="Stack card LLM + orchestration"/>
          <p:cNvSpPr/>
          <p:nvPr/>
        </p:nvSpPr>
        <p:spPr>
          <a:xfrm>
            <a:off x="45720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44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LLM + orchestration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Google Gemini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LangGraph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Retry with jittered back-off</a:t>
            </a:r>
            <a:endParaRPr lang="en-US" sz="1400" dirty="0"/>
          </a:p>
        </p:txBody>
      </p:sp>
      <p:sp>
        <p:nvSpPr>
          <p:cNvPr id="7" name="Stack card Retrieval models"/>
          <p:cNvSpPr/>
          <p:nvPr/>
        </p:nvSpPr>
        <p:spPr>
          <a:xfrm>
            <a:off x="329184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444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Retrieval models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8288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all-MiniLM-L6-v2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ms-marco cross-encoder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BM25 (rank-bm25)</a:t>
            </a:r>
            <a:endParaRPr lang="en-US" sz="1400" dirty="0"/>
          </a:p>
        </p:txBody>
      </p:sp>
      <p:sp>
        <p:nvSpPr>
          <p:cNvPr id="10" name="Stack card Storage"/>
          <p:cNvSpPr/>
          <p:nvPr/>
        </p:nvSpPr>
        <p:spPr>
          <a:xfrm>
            <a:off x="612648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444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Storage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8288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ChromaDB vectors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JSON document registry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Local file uploads</a:t>
            </a:r>
            <a:endParaRPr lang="en-US" sz="1400" dirty="0"/>
          </a:p>
        </p:txBody>
      </p:sp>
      <p:sp>
        <p:nvSpPr>
          <p:cNvPr id="13" name="Stack card Backend"/>
          <p:cNvSpPr/>
          <p:nvPr/>
        </p:nvSpPr>
        <p:spPr>
          <a:xfrm>
            <a:off x="45720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227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Backend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FastAPI + Uvicorn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Pydantic schemas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NDJSON streaming</a:t>
            </a:r>
            <a:endParaRPr lang="en-US" sz="1400" dirty="0"/>
          </a:p>
        </p:txBody>
      </p:sp>
      <p:sp>
        <p:nvSpPr>
          <p:cNvPr id="16" name="Stack card Frontend"/>
          <p:cNvSpPr/>
          <p:nvPr/>
        </p:nvSpPr>
        <p:spPr>
          <a:xfrm>
            <a:off x="329184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74720" y="3227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Frontend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React + Vite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Tailwind CSS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Streamlit fallback</a:t>
            </a:r>
            <a:endParaRPr lang="en-US" sz="1400" dirty="0"/>
          </a:p>
        </p:txBody>
      </p:sp>
      <p:sp>
        <p:nvSpPr>
          <p:cNvPr id="19" name="Stack card Evaluation + voice"/>
          <p:cNvSpPr/>
          <p:nvPr/>
        </p:nvSpPr>
        <p:spPr>
          <a:xfrm>
            <a:off x="612648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3227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Evaluation + voice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RAGAS metrics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Custom benchmark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Piper neural TTS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we measure the gain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Level-3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+ rerank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complex, out-of-scope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 judge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Metrics panel"/>
          <p:cNvSpPr/>
          <p:nvPr/>
        </p:nvSpPr>
        <p:spPr>
          <a:xfrm>
            <a:off x="5852160" y="1280160"/>
            <a:ext cx="283464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807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METRICS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080760" y="18288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Precision@k and recall@k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Keyword hit rate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Groundedness score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RAGAS faithfulness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RAGAS answer relevancy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Latency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python -m evaluation.evaluate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Limits and next steps</a:t>
            </a:r>
            <a:endParaRPr lang="en-US" sz="3600" dirty="0"/>
          </a:p>
        </p:txBody>
      </p:sp>
      <p:sp>
        <p:nvSpPr>
          <p:cNvPr id="4" name="Panel Known limits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Known limits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Known limi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649578"/>
            <a:ext cx="221285" cy="2212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508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Known limits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2402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JSON-file document registry, not a database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BM25 index rebuilt on every ingestion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LLM provider behind llm_client.py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Demo-grade auth with in-memory users</a:t>
            </a:r>
            <a:endParaRPr lang="en-US" sz="1600" dirty="0"/>
          </a:p>
        </p:txBody>
      </p:sp>
      <p:sp>
        <p:nvSpPr>
          <p:cNvPr id="9" name="Panel Next steps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Next steps"/>
          <p:cNvSpPr/>
          <p:nvPr/>
        </p:nvSpPr>
        <p:spPr>
          <a:xfrm>
            <a:off x="4937760" y="15087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1" descr="Next step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578" y="1649578"/>
            <a:ext cx="221285" cy="22128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23560" y="1508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937760" y="22402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Threshold sensitivity analysis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Full 20 to 30 question eval set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database and incremental BM25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Hardened auth or SSO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Questions, and a live demo on the 7th-semester AI syllabus</a:t>
            </a:r>
            <a:endParaRPr lang="en-US" sz="1800" dirty="0"/>
          </a:p>
        </p:txBody>
      </p:sp>
      <p:sp>
        <p:nvSpPr>
          <p:cNvPr id="5" name="Signal ring"/>
          <p:cNvSpPr/>
          <p:nvPr/>
        </p:nvSpPr>
        <p:spPr>
          <a:xfrm>
            <a:off x="6126480" y="1371600"/>
            <a:ext cx="2377440" cy="23774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6" name="Signal ring"/>
          <p:cNvSpPr/>
          <p:nvPr/>
        </p:nvSpPr>
        <p:spPr>
          <a:xfrm>
            <a:off x="6537960" y="1783080"/>
            <a:ext cx="1554480" cy="15544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7" name="Signal ring"/>
          <p:cNvSpPr/>
          <p:nvPr/>
        </p:nvSpPr>
        <p:spPr>
          <a:xfrm>
            <a:off x="6949440" y="2194560"/>
            <a:ext cx="731520" cy="7315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 RAG">
  <a:themeElements>
    <a:clrScheme name="Blueprint RAG">
      <a:dk1>
        <a:srgbClr val="0B1F3A"/>
      </a:dk1>
      <a:lt1>
        <a:srgbClr val="FFFFFF"/>
      </a:lt1>
      <a:dk2>
        <a:srgbClr val="12305A"/>
      </a:dk2>
      <a:lt2>
        <a:srgbClr val="EDF2FA"/>
      </a:lt2>
      <a:accent1>
        <a:srgbClr val="F5A945"/>
      </a:accent1>
      <a:accent2>
        <a:srgbClr val="E5533D"/>
      </a:accent2>
      <a:accent3>
        <a:srgbClr val="2F6FDE"/>
      </a:accent3>
      <a:accent4>
        <a:srgbClr val="1FA38A"/>
      </a:accent4>
      <a:accent5>
        <a:srgbClr val="5F6F8C"/>
      </a:accent5>
      <a:accent6>
        <a:srgbClr val="9DBDF2"/>
      </a:accent6>
      <a:hlink>
        <a:srgbClr val="2F6FDE"/>
      </a:hlink>
      <a:folHlink>
        <a:srgbClr val="5F6F8C"/>
      </a:folHlink>
    </a:clrScheme>
    <a:fontScheme name="Blueprint RA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RAG-Based Knowledge Management System</dc:title>
  <dc:subject>PptxGenJS Presentation</dc:subject>
  <dc:creator>CSE (AI) Major Project</dc:creator>
  <cp:lastModifiedBy>CSE (AI) Major Project</cp:lastModifiedBy>
  <cp:revision>1</cp:revision>
  <dcterms:created xsi:type="dcterms:W3CDTF">2026-10-21T14:44:13Z</dcterms:created>
  <dcterms:modified xsi:type="dcterms:W3CDTF">2026-10-21T14:44:13Z</dcterms:modified>
</cp:coreProperties>
</file>